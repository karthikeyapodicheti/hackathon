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holding the phone. Do not read the slide. Say the one-liner and move fast to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everyone in this room has had at least one of these calls. Pause. Let them recognise it. Do not explain what a scam call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victim is not stupid. They are being run through a script designed to stop them thinking. The only moment that matters is while the call is still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loop in one breath. Emphasise: it shows the exact words, with timestamps. That is what makes it trustworthy.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core argument. A cloud scam detector is self-defeating. Say it slowly.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manifest live here. Airplane mode already on. This is the line they will remember.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points only: cheap work runs always and expensive work almost never; and the score comes from deterministic detectors, so it is always explainable.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design decisions worth calling out. The silent alert is the one that shows product thinking.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the script to a judge. They call the phone. Let them read it. Say nothing while the screen turns.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a normal conversation at it. Nothing happens. This is the credibility beat — judges will test exactly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Pre-empt the over-scoping objection. Two components, no native builds, and the demo works before the model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the sentence. Stop talking.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417320"/>
            <a:ext cx="10469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4CC9F0"/>
                </a:solidFill>
                <a:latin typeface="Consolas"/>
              </a:rPr>
              <a:t>IQOO HACKATHON 2026  ·  FINTECH &amp; COMMERCE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965960"/>
            <a:ext cx="104698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7600" b="1">
                <a:solidFill>
                  <a:srgbClr val="E9EBF4"/>
                </a:solidFill>
                <a:latin typeface="Segoe UI Semibold"/>
              </a:rPr>
              <a:t>Scam Shield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00400"/>
            <a:ext cx="8778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300" b="0">
                <a:solidFill>
                  <a:srgbClr val="A6ADC8"/>
                </a:solidFill>
                <a:latin typeface="Segoe UI"/>
              </a:rPr>
              <a:t>My phone catches the scam while they are still talking —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300" b="0">
                <a:solidFill>
                  <a:srgbClr val="A6ADC8"/>
                </a:solidFill>
                <a:latin typeface="Segoe UI"/>
              </a:rPr>
              <a:t>and it cannot leak the call, because it never asked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300" b="0">
                <a:solidFill>
                  <a:srgbClr val="A6ADC8"/>
                </a:solidFill>
                <a:latin typeface="Segoe UI"/>
              </a:rPr>
              <a:t>for permission to use the internet.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892040"/>
            <a:ext cx="10469880" cy="12700"/>
          </a:xfrm>
          <a:prstGeom prst="rect">
            <a:avLst/>
          </a:prstGeom>
          <a:solidFill>
            <a:srgbClr val="2C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138928"/>
            <a:ext cx="10469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6E7799"/>
                </a:solidFill>
                <a:latin typeface="Consolas"/>
              </a:rPr>
              <a:t>100% ON-DEVICE     ·     NO NETWORK PERMISSION     ·     SNAPDRAGON 8 ELITE GEN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469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6E7799"/>
                </a:solidFill>
                <a:latin typeface="Consolas"/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914400"/>
            <a:ext cx="1371600" cy="1270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207008"/>
            <a:ext cx="104698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4200" b="1">
                <a:solidFill>
                  <a:srgbClr val="E9EBF4"/>
                </a:solidFill>
                <a:latin typeface="Segoe UI Semibold"/>
              </a:rPr>
              <a:t>Everyone in this room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4200" b="1">
                <a:solidFill>
                  <a:srgbClr val="E9EBF4"/>
                </a:solidFill>
                <a:latin typeface="Segoe UI Semibold"/>
              </a:rPr>
              <a:t>has had this call.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3063240"/>
            <a:ext cx="4846320" cy="749808"/>
          </a:xfrm>
          <a:prstGeom prst="roundRect">
            <a:avLst>
              <a:gd name="adj" fmla="val 6000"/>
            </a:avLst>
          </a:prstGeom>
          <a:solidFill>
            <a:srgbClr val="181C2E"/>
          </a:solidFill>
          <a:ln w="9525">
            <a:solidFill>
              <a:srgbClr val="2C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24712" y="3182112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400" b="1">
                <a:solidFill>
                  <a:srgbClr val="E9EBF4"/>
                </a:solidFill>
                <a:latin typeface="Segoe UI"/>
              </a:rPr>
              <a:t>“Your KYC has expired.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3465576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A6ADC8"/>
                </a:solidFill>
                <a:latin typeface="Segoe UI"/>
              </a:rPr>
              <a:t>Your account will be blocked in ten minutes.”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063240"/>
            <a:ext cx="4846320" cy="749808"/>
          </a:xfrm>
          <a:prstGeom prst="roundRect">
            <a:avLst>
              <a:gd name="adj" fmla="val 6000"/>
            </a:avLst>
          </a:prstGeom>
          <a:solidFill>
            <a:srgbClr val="181C2E"/>
          </a:solidFill>
          <a:ln w="9525">
            <a:solidFill>
              <a:srgbClr val="2C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748272" y="3182112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400" b="1">
                <a:solidFill>
                  <a:srgbClr val="E9EBF4"/>
                </a:solidFill>
                <a:latin typeface="Segoe UI"/>
              </a:rPr>
              <a:t>“This is the cyber crime branch.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8272" y="3465576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A6ADC8"/>
                </a:solidFill>
                <a:latin typeface="Segoe UI"/>
              </a:rPr>
              <a:t>There is a warrant in your name.”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959352"/>
            <a:ext cx="4846320" cy="749808"/>
          </a:xfrm>
          <a:prstGeom prst="roundRect">
            <a:avLst>
              <a:gd name="adj" fmla="val 6000"/>
            </a:avLst>
          </a:prstGeom>
          <a:solidFill>
            <a:srgbClr val="181C2E"/>
          </a:solidFill>
          <a:ln w="9525">
            <a:solidFill>
              <a:srgbClr val="2C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124712" y="4078224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400" b="1">
                <a:solidFill>
                  <a:srgbClr val="E9EBF4"/>
                </a:solidFill>
                <a:latin typeface="Segoe UI"/>
              </a:rPr>
              <a:t>“I transferred money by mistake.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" y="4361688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A6ADC8"/>
                </a:solidFill>
                <a:latin typeface="Segoe UI"/>
              </a:rPr>
              <a:t>Just approve the request I am sending.”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3959352"/>
            <a:ext cx="4846320" cy="749808"/>
          </a:xfrm>
          <a:prstGeom prst="roundRect">
            <a:avLst>
              <a:gd name="adj" fmla="val 6000"/>
            </a:avLst>
          </a:prstGeom>
          <a:solidFill>
            <a:srgbClr val="181C2E"/>
          </a:solidFill>
          <a:ln w="9525">
            <a:solidFill>
              <a:srgbClr val="2C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748272" y="4078224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400" b="1">
                <a:solidFill>
                  <a:srgbClr val="E9EBF4"/>
                </a:solidFill>
                <a:latin typeface="Segoe UI"/>
              </a:rPr>
              <a:t>“Install AnyDesk so I can help you.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4361688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A6ADC8"/>
                </a:solidFill>
                <a:latin typeface="Segoe UI"/>
              </a:rPr>
              <a:t>Read me the code on your screen.”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469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6E7799"/>
                </a:solidFill>
                <a:latin typeface="Consolas"/>
              </a:rPr>
              <a:t>WHY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914400"/>
            <a:ext cx="1371600" cy="1270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207008"/>
            <a:ext cx="104698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4000" b="1">
                <a:solidFill>
                  <a:srgbClr val="E9EBF4"/>
                </a:solidFill>
                <a:latin typeface="Segoe UI Semibold"/>
              </a:rPr>
              <a:t>The victim is not careless.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4000" b="1">
                <a:solidFill>
                  <a:srgbClr val="E9EBF4"/>
                </a:solidFill>
                <a:latin typeface="Segoe UI Semibold"/>
              </a:rPr>
              <a:t>They are being worked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880360"/>
            <a:ext cx="58521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800" b="0">
                <a:solidFill>
                  <a:srgbClr val="A6ADC8"/>
                </a:solidFill>
                <a:latin typeface="Segoe UI"/>
              </a:rPr>
              <a:t>These calls are performed by trained operators using authority, urgency and fear — a script built specifically to stop someone thinking clearly.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800" b="0">
                <a:solidFill>
                  <a:srgbClr val="A6ADC8"/>
                </a:solidFill>
                <a:latin typeface="Segoe UI"/>
              </a:rPr>
              <a:t/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800" b="0">
                <a:solidFill>
                  <a:srgbClr val="A6ADC8"/>
                </a:solidFill>
                <a:latin typeface="Segoe UI"/>
              </a:rPr>
              <a:t>It works on educated, careful people every single 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95160" y="2788920"/>
            <a:ext cx="4343400" cy="2286000"/>
          </a:xfrm>
          <a:prstGeom prst="roundRect">
            <a:avLst>
              <a:gd name="adj" fmla="val 6000"/>
            </a:avLst>
          </a:prstGeom>
          <a:solidFill>
            <a:srgbClr val="181C2E"/>
          </a:solidFill>
          <a:ln w="9525">
            <a:solidFill>
              <a:srgbClr val="2C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60920" y="30632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4CC9F0"/>
                </a:solidFill>
                <a:latin typeface="Consolas"/>
              </a:rPr>
              <a:t>THE WINDOW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3456432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4600" b="1">
                <a:solidFill>
                  <a:srgbClr val="E9EBF4"/>
                </a:solidFill>
                <a:latin typeface="Segoe UI Semibold"/>
              </a:rPr>
              <a:t>60 seconds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4224528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A6ADC8"/>
                </a:solidFill>
                <a:latin typeface="Segoe UI"/>
              </a:rPr>
              <a:t>Nobody needs a warning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A6ADC8"/>
                </a:solidFill>
                <a:latin typeface="Segoe UI"/>
              </a:rPr>
              <a:t>after they have paid.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469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6E7799"/>
                </a:solidFill>
                <a:latin typeface="Consolas"/>
              </a:rPr>
              <a:t>WHAT I AM BUILDING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914400"/>
            <a:ext cx="1371600" cy="1270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207008"/>
            <a:ext cx="104698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4000" b="1">
                <a:solidFill>
                  <a:srgbClr val="E9EBF4"/>
                </a:solidFill>
                <a:latin typeface="Segoe UI Semibold"/>
              </a:rPr>
              <a:t>One job, done properly.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5146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0">
                <a:solidFill>
                  <a:srgbClr val="A6ADC8"/>
                </a:solidFill>
                <a:latin typeface="Segoe UI"/>
              </a:rPr>
              <a:t>Scam Shield listens to a call on speakerphone and tells you, in real time, when the conversation matches a known scam pattern.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566160"/>
            <a:ext cx="2468880" cy="1600200"/>
          </a:xfrm>
          <a:prstGeom prst="roundRect">
            <a:avLst>
              <a:gd name="adj" fmla="val 6000"/>
            </a:avLst>
          </a:prstGeom>
          <a:solidFill>
            <a:srgbClr val="181C2E"/>
          </a:solidFill>
          <a:ln w="9525">
            <a:solidFill>
              <a:srgbClr val="2C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106424" y="3767328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600" b="1">
                <a:solidFill>
                  <a:srgbClr val="4CC9F0"/>
                </a:solidFill>
                <a:latin typeface="Segoe UI Semibold"/>
              </a:rPr>
              <a:t>A risk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" y="416052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0">
                <a:solidFill>
                  <a:srgbClr val="A6ADC8"/>
                </a:solidFill>
                <a:latin typeface="Segoe UI"/>
              </a:rPr>
              <a:t>Low → Elevated → High, built from 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38728" y="3566160"/>
            <a:ext cx="2468880" cy="1600200"/>
          </a:xfrm>
          <a:prstGeom prst="roundRect">
            <a:avLst>
              <a:gd name="adj" fmla="val 6000"/>
            </a:avLst>
          </a:prstGeom>
          <a:solidFill>
            <a:srgbClr val="181C2E"/>
          </a:solidFill>
          <a:ln w="9525">
            <a:solidFill>
              <a:srgbClr val="2C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776472" y="3767328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600" b="1">
                <a:solidFill>
                  <a:srgbClr val="4CC9F0"/>
                </a:solidFill>
                <a:latin typeface="Segoe UI Semibold"/>
              </a:rPr>
              <a:t>One plain sentence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6472" y="416052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0">
                <a:solidFill>
                  <a:srgbClr val="A6ADC8"/>
                </a:solidFill>
                <a:latin typeface="Segoe UI"/>
              </a:rPr>
              <a:t>What is happening, in language anyone can act 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3566160"/>
            <a:ext cx="2468880" cy="1600200"/>
          </a:xfrm>
          <a:prstGeom prst="roundRect">
            <a:avLst>
              <a:gd name="adj" fmla="val 6000"/>
            </a:avLst>
          </a:prstGeom>
          <a:solidFill>
            <a:srgbClr val="181C2E"/>
          </a:solidFill>
          <a:ln w="9525">
            <a:solidFill>
              <a:srgbClr val="2C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46520" y="3767328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600" b="1">
                <a:solidFill>
                  <a:srgbClr val="4CC9F0"/>
                </a:solidFill>
                <a:latin typeface="Segoe UI Semibold"/>
              </a:rPr>
              <a:t>The exact words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416052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0">
                <a:solidFill>
                  <a:srgbClr val="A6ADC8"/>
                </a:solidFill>
                <a:latin typeface="Segoe UI"/>
              </a:rPr>
              <a:t>The phrases that gave it away, with timestamps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78824" y="3566160"/>
            <a:ext cx="2468880" cy="1600200"/>
          </a:xfrm>
          <a:prstGeom prst="roundRect">
            <a:avLst>
              <a:gd name="adj" fmla="val 6000"/>
            </a:avLst>
          </a:prstGeom>
          <a:solidFill>
            <a:srgbClr val="181C2E"/>
          </a:solidFill>
          <a:ln w="9525">
            <a:solidFill>
              <a:srgbClr val="2C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16568" y="3767328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600" b="1">
                <a:solidFill>
                  <a:srgbClr val="4CC9F0"/>
                </a:solidFill>
                <a:latin typeface="Segoe UI Semibold"/>
              </a:rPr>
              <a:t>A silent buzz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16568" y="416052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0">
                <a:solidFill>
                  <a:srgbClr val="A6ADC8"/>
                </a:solidFill>
                <a:latin typeface="Segoe UI"/>
              </a:rPr>
              <a:t>Screen and haptics only — never audio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469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6E7799"/>
                </a:solidFill>
                <a:latin typeface="Consolas"/>
              </a:rPr>
              <a:t>WHY THIS CANNOT BE A CLOUD APP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914400"/>
            <a:ext cx="1371600" cy="1270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207008"/>
            <a:ext cx="104698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4000" b="1">
                <a:solidFill>
                  <a:srgbClr val="E9EBF4"/>
                </a:solidFill>
                <a:latin typeface="Segoe UI Semibold"/>
              </a:rPr>
              <a:t>A scam detector in the cloud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4000" b="1">
                <a:solidFill>
                  <a:srgbClr val="E9EBF4"/>
                </a:solidFill>
                <a:latin typeface="Segoe UI Semibold"/>
              </a:rPr>
              <a:t>is a honeypot.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017520"/>
            <a:ext cx="9692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2100" b="0">
                <a:solidFill>
                  <a:srgbClr val="A6ADC8"/>
                </a:solidFill>
                <a:latin typeface="Segoe UI"/>
              </a:rPr>
              <a:t>Nobody will upload their phone calls to a server to be checked for fraud. The moment you build that, you have created exactly the thing you claimed to protect people from.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526280"/>
            <a:ext cx="10469880" cy="1051560"/>
          </a:xfrm>
          <a:prstGeom prst="roundRect">
            <a:avLst>
              <a:gd name="adj" fmla="val 6000"/>
            </a:avLst>
          </a:prstGeom>
          <a:solidFill>
            <a:srgbClr val="181C2E"/>
          </a:solidFill>
          <a:ln w="9525">
            <a:solidFill>
              <a:srgbClr val="2C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34440" y="4828032"/>
            <a:ext cx="9784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700" b="0">
                <a:solidFill>
                  <a:srgbClr val="E9EBF4"/>
                </a:solidFill>
                <a:latin typeface="Segoe UI"/>
              </a:rPr>
              <a:t>So everything runs on the phone. Speech recognition, detection and the language model all execute on the Snapdragon. Nothing is written to disk. Nothing is transmitted.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469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4CC9F0"/>
                </a:solidFill>
                <a:latin typeface="Consolas"/>
              </a:rPr>
              <a:t>THE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914400"/>
            <a:ext cx="1371600" cy="1270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207008"/>
            <a:ext cx="104698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4000" b="1">
                <a:solidFill>
                  <a:srgbClr val="E9EBF4"/>
                </a:solidFill>
                <a:latin typeface="Segoe UI Semibold"/>
              </a:rPr>
              <a:t>I am not asking you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4000" b="1">
                <a:solidFill>
                  <a:srgbClr val="E9EBF4"/>
                </a:solidFill>
                <a:latin typeface="Segoe UI Semibold"/>
              </a:rPr>
              <a:t>to trust a privacy policy.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3063240"/>
            <a:ext cx="10469880" cy="1371600"/>
          </a:xfrm>
          <a:prstGeom prst="roundRect">
            <a:avLst>
              <a:gd name="adj" fmla="val 6000"/>
            </a:avLst>
          </a:prstGeom>
          <a:solidFill>
            <a:srgbClr val="181C2E"/>
          </a:solidFill>
          <a:ln w="9525">
            <a:solidFill>
              <a:srgbClr val="2C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234440" y="3310128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6E7799"/>
                </a:solidFill>
                <a:latin typeface="Consolas"/>
              </a:rPr>
              <a:t>ANDROIDMANIFEST.XML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675887"/>
            <a:ext cx="9784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0">
                <a:solidFill>
                  <a:srgbClr val="3DD68C"/>
                </a:solidFill>
                <a:latin typeface="Consolas"/>
              </a:rPr>
              <a:t>&lt;!-- android.permission.INTERNET is not declared --&gt;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75488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800" b="0">
                <a:solidFill>
                  <a:srgbClr val="A6ADC8"/>
                </a:solidFill>
                <a:latin typeface="Segoe UI"/>
              </a:rPr>
              <a:t>Without that permission Android will not let the app open a network connection. Not “we promise not to” — the operating system refuses. I will show you the manifest, with the phone in airplane mode.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469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6E7799"/>
                </a:solidFill>
                <a:latin typeface="Consolas"/>
              </a:rPr>
              <a:t>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914400"/>
            <a:ext cx="1371600" cy="1270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18872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E9EBF4"/>
                </a:solidFill>
                <a:latin typeface="Segoe UI Semibold"/>
              </a:rPr>
              <a:t>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298448"/>
            <a:ext cx="5715000" cy="566928"/>
          </a:xfrm>
          <a:prstGeom prst="roundRect">
            <a:avLst>
              <a:gd name="adj" fmla="val 6000"/>
            </a:avLst>
          </a:prstGeom>
          <a:solidFill>
            <a:srgbClr val="181C2E"/>
          </a:solidFill>
          <a:ln w="9525">
            <a:solidFill>
              <a:srgbClr val="2C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520440" y="139903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1">
                <a:solidFill>
                  <a:srgbClr val="E9EBF4"/>
                </a:solidFill>
                <a:latin typeface="Segoe UI Semibold"/>
              </a:rPr>
              <a:t>Speakerphone 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1627631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4CC9F0"/>
                </a:solidFill>
                <a:latin typeface="Consolas"/>
              </a:rPr>
              <a:t>microphone · RECORD_AUDIO only</a:t>
            </a:r>
          </a:p>
        </p:txBody>
      </p:sp>
      <p:sp>
        <p:nvSpPr>
          <p:cNvPr id="8" name="Down Arrow 7"/>
          <p:cNvSpPr/>
          <p:nvPr/>
        </p:nvSpPr>
        <p:spPr>
          <a:xfrm>
            <a:off x="5971032" y="1911095"/>
            <a:ext cx="256032" cy="182880"/>
          </a:xfrm>
          <a:prstGeom prst="downArrow">
            <a:avLst/>
          </a:prstGeom>
          <a:solidFill>
            <a:srgbClr val="2C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46120" y="2130552"/>
            <a:ext cx="5715000" cy="566928"/>
          </a:xfrm>
          <a:prstGeom prst="roundRect">
            <a:avLst>
              <a:gd name="adj" fmla="val 6000"/>
            </a:avLst>
          </a:prstGeom>
          <a:solidFill>
            <a:srgbClr val="181C2E"/>
          </a:solidFill>
          <a:ln w="9525">
            <a:solidFill>
              <a:srgbClr val="2C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520440" y="223113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1">
                <a:solidFill>
                  <a:srgbClr val="E9EBF4"/>
                </a:solidFill>
                <a:latin typeface="Segoe UI Semibold"/>
              </a:rPr>
              <a:t>Streaming speech recognition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459736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4CC9F0"/>
                </a:solidFill>
                <a:latin typeface="Consolas"/>
              </a:rPr>
              <a:t>sherpa-onnx · offline · always on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971032" y="2743200"/>
            <a:ext cx="256032" cy="182880"/>
          </a:xfrm>
          <a:prstGeom prst="downArrow">
            <a:avLst/>
          </a:prstGeom>
          <a:solidFill>
            <a:srgbClr val="2C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46120" y="2962656"/>
            <a:ext cx="5715000" cy="566928"/>
          </a:xfrm>
          <a:prstGeom prst="roundRect">
            <a:avLst>
              <a:gd name="adj" fmla="val 6000"/>
            </a:avLst>
          </a:prstGeom>
          <a:solidFill>
            <a:srgbClr val="181C2E"/>
          </a:solidFill>
          <a:ln w="9525">
            <a:solidFill>
              <a:srgbClr val="2C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520440" y="30632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1">
                <a:solidFill>
                  <a:srgbClr val="E9EBF4"/>
                </a:solidFill>
                <a:latin typeface="Segoe UI Semibold"/>
              </a:rPr>
              <a:t>Rolling transcript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291840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4CC9F0"/>
                </a:solidFill>
                <a:latin typeface="Consolas"/>
              </a:rPr>
              <a:t>memory only · never written to disk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971032" y="3575304"/>
            <a:ext cx="256032" cy="182880"/>
          </a:xfrm>
          <a:prstGeom prst="downArrow">
            <a:avLst/>
          </a:prstGeom>
          <a:solidFill>
            <a:srgbClr val="2C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46120" y="3794760"/>
            <a:ext cx="5715000" cy="566928"/>
          </a:xfrm>
          <a:prstGeom prst="roundRect">
            <a:avLst>
              <a:gd name="adj" fmla="val 6000"/>
            </a:avLst>
          </a:prstGeom>
          <a:solidFill>
            <a:srgbClr val="181C2E"/>
          </a:solidFill>
          <a:ln w="9525">
            <a:solidFill>
              <a:srgbClr val="2C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520440" y="389534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1">
                <a:solidFill>
                  <a:srgbClr val="E9EBF4"/>
                </a:solidFill>
                <a:latin typeface="Segoe UI Semibold"/>
              </a:rPr>
              <a:t>Deterministic signal detectors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4123944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3DD68C"/>
                </a:solidFill>
                <a:latin typeface="Consolas"/>
              </a:rPr>
              <a:t>instant · explainable · always on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5971032" y="4407408"/>
            <a:ext cx="256032" cy="182880"/>
          </a:xfrm>
          <a:prstGeom prst="downArrow">
            <a:avLst/>
          </a:prstGeom>
          <a:solidFill>
            <a:srgbClr val="2C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246120" y="4626864"/>
            <a:ext cx="5715000" cy="566928"/>
          </a:xfrm>
          <a:prstGeom prst="roundRect">
            <a:avLst>
              <a:gd name="adj" fmla="val 6000"/>
            </a:avLst>
          </a:prstGeom>
          <a:solidFill>
            <a:srgbClr val="181C2E"/>
          </a:solidFill>
          <a:ln w="9525">
            <a:solidFill>
              <a:srgbClr val="2C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520440" y="47274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1">
                <a:solidFill>
                  <a:srgbClr val="E9EBF4"/>
                </a:solidFill>
                <a:latin typeface="Segoe UI Semibold"/>
              </a:rPr>
              <a:t>Local language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4956048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F0B429"/>
                </a:solidFill>
                <a:latin typeface="Consolas"/>
              </a:rPr>
              <a:t>Gemma 3 1B · triggered only · rare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5971032" y="5239512"/>
            <a:ext cx="256032" cy="182880"/>
          </a:xfrm>
          <a:prstGeom prst="downArrow">
            <a:avLst/>
          </a:prstGeom>
          <a:solidFill>
            <a:srgbClr val="2C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246120" y="5458968"/>
            <a:ext cx="5715000" cy="566928"/>
          </a:xfrm>
          <a:prstGeom prst="roundRect">
            <a:avLst>
              <a:gd name="adj" fmla="val 6000"/>
            </a:avLst>
          </a:prstGeom>
          <a:solidFill>
            <a:srgbClr val="181C2E"/>
          </a:solidFill>
          <a:ln w="9525">
            <a:solidFill>
              <a:srgbClr val="2C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520440" y="555955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500" b="1">
                <a:solidFill>
                  <a:srgbClr val="E9EBF4"/>
                </a:solidFill>
                <a:latin typeface="Segoe UI Semibold"/>
              </a:rPr>
              <a:t>Screen  +  haptics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5788152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F4475E"/>
                </a:solidFill>
                <a:latin typeface="Consolas"/>
              </a:rPr>
              <a:t>never audio · the scammer is listening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2240280"/>
            <a:ext cx="21488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0">
                <a:solidFill>
                  <a:srgbClr val="A6ADC8"/>
                </a:solidFill>
                <a:latin typeface="Segoe UI"/>
              </a:rPr>
              <a:t>Cheap work runs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0">
                <a:solidFill>
                  <a:srgbClr val="A6ADC8"/>
                </a:solidFill>
                <a:latin typeface="Segoe UI"/>
              </a:rPr>
              <a:t>constantly.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0">
                <a:solidFill>
                  <a:srgbClr val="A6ADC8"/>
                </a:solidFill>
                <a:latin typeface="Segoe UI"/>
              </a:rPr>
              <a:t/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0">
                <a:solidFill>
                  <a:srgbClr val="A6ADC8"/>
                </a:solidFill>
                <a:latin typeface="Segoe UI"/>
              </a:rPr>
              <a:t>Expensive work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0">
                <a:solidFill>
                  <a:srgbClr val="A6ADC8"/>
                </a:solidFill>
                <a:latin typeface="Segoe UI"/>
              </a:rPr>
              <a:t>almost never runs.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3794760"/>
            <a:ext cx="22860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A6ADC8"/>
                </a:solidFill>
                <a:latin typeface="Segoe UI"/>
              </a:rPr>
              <a:t>The risk score comes from the detectors, not the model — so it is never something a model invented.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469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6E7799"/>
                </a:solidFill>
                <a:latin typeface="Consolas"/>
              </a:rPr>
              <a:t>TWO DECISIONS THAT MATTER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914400"/>
            <a:ext cx="1371600" cy="1270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207008"/>
            <a:ext cx="104698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4000" b="1">
                <a:solidFill>
                  <a:srgbClr val="E9EBF4"/>
                </a:solidFill>
                <a:latin typeface="Segoe UI Semibold"/>
              </a:rPr>
              <a:t>The details that make it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834640"/>
            <a:ext cx="5029200" cy="2788920"/>
          </a:xfrm>
          <a:prstGeom prst="roundRect">
            <a:avLst>
              <a:gd name="adj" fmla="val 6000"/>
            </a:avLst>
          </a:prstGeom>
          <a:solidFill>
            <a:srgbClr val="181C2E"/>
          </a:solidFill>
          <a:ln w="9525">
            <a:solidFill>
              <a:srgbClr val="2C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68680" y="2834640"/>
            <a:ext cx="38100" cy="2788920"/>
          </a:xfrm>
          <a:prstGeom prst="rect">
            <a:avLst/>
          </a:prstGeom>
          <a:solidFill>
            <a:srgbClr val="F44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10896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000" b="1">
                <a:solidFill>
                  <a:srgbClr val="E9EBF4"/>
                </a:solidFill>
                <a:latin typeface="Segoe UI Semibold"/>
              </a:rPr>
              <a:t>The alert is silent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611880"/>
            <a:ext cx="4389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A6ADC8"/>
                </a:solidFill>
                <a:latin typeface="Segoe UI"/>
              </a:rPr>
              <a:t>The call is on speakerphone. A spoken warning would tip off the person running the scam — or let them tell the victim the warning is fake.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A6ADC8"/>
                </a:solidFill>
                <a:latin typeface="Segoe UI"/>
              </a:rPr>
              <a:t/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A6ADC8"/>
                </a:solidFill>
                <a:latin typeface="Segoe UI"/>
              </a:rPr>
              <a:t>So it goes to the screen and to the iQOO 15's X and Z axis haptic motor instead.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834640"/>
            <a:ext cx="5029200" cy="2788920"/>
          </a:xfrm>
          <a:prstGeom prst="roundRect">
            <a:avLst>
              <a:gd name="adj" fmla="val 6000"/>
            </a:avLst>
          </a:prstGeom>
          <a:solidFill>
            <a:srgbClr val="181C2E"/>
          </a:solidFill>
          <a:ln w="9525">
            <a:solidFill>
              <a:srgbClr val="2C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309360" y="2834640"/>
            <a:ext cx="38100" cy="2788920"/>
          </a:xfrm>
          <a:prstGeom prst="rect">
            <a:avLst/>
          </a:prstGeom>
          <a:solidFill>
            <a:srgbClr val="3DD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310896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000" b="1">
                <a:solidFill>
                  <a:srgbClr val="E9EBF4"/>
                </a:solidFill>
                <a:latin typeface="Segoe UI Semibold"/>
              </a:rPr>
              <a:t>The score is not from the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611880"/>
            <a:ext cx="4389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A6ADC8"/>
                </a:solidFill>
                <a:latin typeface="Segoe UI"/>
              </a:rPr>
              <a:t>Deterministic detectors produce the risk level and the evidence. The language model only writes the sentence a human reads.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A6ADC8"/>
                </a:solidFill>
                <a:latin typeface="Segoe UI"/>
              </a:rPr>
              <a:t/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A6ADC8"/>
                </a:solidFill>
                <a:latin typeface="Segoe UI"/>
              </a:rPr>
              <a:t>That keeps it fast, keeps it explainable, and means the demo works even if the model does not.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469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4CC9F0"/>
                </a:solidFill>
                <a:latin typeface="Consolas"/>
              </a:rPr>
              <a:t>THE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914400"/>
            <a:ext cx="1371600" cy="1270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207008"/>
            <a:ext cx="104698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4000" b="1">
                <a:solidFill>
                  <a:srgbClr val="E9EBF4"/>
                </a:solidFill>
                <a:latin typeface="Segoe UI Semibold"/>
              </a:rPr>
              <a:t>I would like you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4000" b="1">
                <a:solidFill>
                  <a:srgbClr val="E9EBF4"/>
                </a:solidFill>
                <a:latin typeface="Segoe UI Semibold"/>
              </a:rPr>
              <a:t>to do this yourself.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0175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4CC9F0"/>
                </a:solidFill>
                <a:latin typeface="Consola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30175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E9EBF4"/>
                </a:solidFill>
                <a:latin typeface="Segoe UI"/>
              </a:rPr>
              <a:t>I hand you a scam script.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58444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4CC9F0"/>
                </a:solidFill>
                <a:latin typeface="Consola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58444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E9EBF4"/>
                </a:solidFill>
                <a:latin typeface="Segoe UI"/>
              </a:rPr>
              <a:t>You call this phone. It goes on speaker.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151376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4CC9F0"/>
                </a:solidFill>
                <a:latin typeface="Consolas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415137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E9EBF4"/>
                </a:solidFill>
                <a:latin typeface="Segoe UI"/>
              </a:rPr>
              <a:t>You start reading.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71830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4CC9F0"/>
                </a:solidFill>
                <a:latin typeface="Consolas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4718304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E9EBF4"/>
                </a:solidFill>
                <a:latin typeface="Segoe UI"/>
              </a:rPr>
              <a:t>Mid-sentence the screen turns red and the phone buzzes.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285231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4CC9F0"/>
                </a:solidFill>
                <a:latin typeface="Consolas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5285231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E9EBF4"/>
                </a:solidFill>
                <a:latin typeface="Segoe UI"/>
              </a:rPr>
              <a:t>It names the scam and shows the words that gave you away.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469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6E7799"/>
                </a:solidFill>
                <a:latin typeface="Consolas"/>
              </a:rPr>
              <a:t>RESTRAINT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914400"/>
            <a:ext cx="1371600" cy="1270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207008"/>
            <a:ext cx="104698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4000" b="1">
                <a:solidFill>
                  <a:srgbClr val="E9EBF4"/>
                </a:solidFill>
                <a:latin typeface="Segoe UI Semibold"/>
              </a:rPr>
              <a:t>Then I read it a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4000" b="1">
                <a:solidFill>
                  <a:srgbClr val="E9EBF4"/>
                </a:solidFill>
                <a:latin typeface="Segoe UI Semibold"/>
              </a:rPr>
              <a:t>normal conversation.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3063240"/>
            <a:ext cx="10469880" cy="1143000"/>
          </a:xfrm>
          <a:prstGeom prst="roundRect">
            <a:avLst>
              <a:gd name="adj" fmla="val 6000"/>
            </a:avLst>
          </a:prstGeom>
          <a:solidFill>
            <a:srgbClr val="181C2E"/>
          </a:solidFill>
          <a:ln w="9525">
            <a:solidFill>
              <a:srgbClr val="2C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234440" y="3401568"/>
            <a:ext cx="9784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3DD68C"/>
                </a:solidFill>
                <a:latin typeface="Segoe UI Semibold"/>
              </a:rPr>
              <a:t>Nothing happens.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572000"/>
            <a:ext cx="98755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900" b="0">
                <a:solidFill>
                  <a:srgbClr val="A6ADC8"/>
                </a:solidFill>
                <a:latin typeface="Segoe UI"/>
              </a:rPr>
              <a:t>A detector that flags everything is a detector nobody keeps installed. High risk requires two independent signals, and every warning shows its evidence so you can judge it yourself.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469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6E7799"/>
                </a:solidFill>
                <a:latin typeface="Consolas"/>
              </a:rPr>
              <a:t>WHY IT SHIPS IN 30 HOURS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914400"/>
            <a:ext cx="1371600" cy="1270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207008"/>
            <a:ext cx="104698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4000" b="1">
                <a:solidFill>
                  <a:srgbClr val="E9EBF4"/>
                </a:solidFill>
                <a:latin typeface="Segoe UI Semibold"/>
              </a:rPr>
              <a:t>Scoped against the format,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4000" b="1">
                <a:solidFill>
                  <a:srgbClr val="E9EBF4"/>
                </a:solidFill>
                <a:latin typeface="Segoe UI Semibold"/>
              </a:rPr>
              <a:t>not against my ambition.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260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>
                <a:solidFill>
                  <a:srgbClr val="4CC9F0"/>
                </a:solidFill>
                <a:latin typeface="Segoe UI Semibold"/>
              </a:rPr>
              <a:t>Two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310128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A6ADC8"/>
                </a:solidFill>
                <a:latin typeface="Segoe UI"/>
              </a:rPr>
              <a:t>Speech recognition and classification. That is the whole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9260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>
                <a:solidFill>
                  <a:srgbClr val="4CC9F0"/>
                </a:solidFill>
                <a:latin typeface="Segoe UI Semibold"/>
              </a:rPr>
              <a:t>No native builds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3310128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A6ADC8"/>
                </a:solidFill>
                <a:latin typeface="Segoe UI"/>
              </a:rPr>
              <a:t>Prebuilt libraries and Gradle dependencies. No NDK, no CMake — which matters when the laptop is restricted for 55% of the clock.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34340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>
                <a:solidFill>
                  <a:srgbClr val="4CC9F0"/>
                </a:solidFill>
                <a:latin typeface="Segoe UI Semibold"/>
              </a:rPr>
              <a:t>The demo works 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27448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A6ADC8"/>
                </a:solidFill>
                <a:latin typeface="Segoe UI"/>
              </a:rPr>
              <a:t>Deterministic detectors carry the entire demo. The language model is an upgrade layered on top, not a dependency.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34340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>
                <a:solidFill>
                  <a:srgbClr val="4CC9F0"/>
                </a:solidFill>
                <a:latin typeface="Segoe UI Semibold"/>
              </a:rPr>
              <a:t>Red Light is productive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727448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A6ADC8"/>
                </a:solidFill>
                <a:latin typeface="Segoe UI"/>
              </a:rPr>
              <a:t>Speaking test scripts, tuning thresholds, designing haptics, rehearsing — real work that needs no compiler.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148840"/>
            <a:ext cx="104698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4000" b="1">
                <a:solidFill>
                  <a:srgbClr val="E9EBF4"/>
                </a:solidFill>
                <a:latin typeface="Segoe UI Semibold"/>
              </a:rPr>
              <a:t>My phone caught the scam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4000" b="1">
                <a:solidFill>
                  <a:srgbClr val="E9EBF4"/>
                </a:solidFill>
                <a:latin typeface="Segoe UI Semibold"/>
              </a:rPr>
              <a:t>while they were still talking —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4000" b="1">
                <a:solidFill>
                  <a:srgbClr val="E9EBF4"/>
                </a:solidFill>
                <a:latin typeface="Segoe UI Semibold"/>
              </a:rPr>
              <a:t>and it couldn’t have leaked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4000" b="1">
                <a:solidFill>
                  <a:srgbClr val="E9EBF4"/>
                </a:solidFill>
                <a:latin typeface="Segoe UI Semibold"/>
              </a:rPr>
              <a:t>the call if it tried.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4892040"/>
            <a:ext cx="10469880" cy="12700"/>
          </a:xfrm>
          <a:prstGeom prst="rect">
            <a:avLst/>
          </a:prstGeom>
          <a:solidFill>
            <a:srgbClr val="2C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38928"/>
            <a:ext cx="10469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6E7799"/>
                </a:solidFill>
                <a:latin typeface="Consolas"/>
              </a:rPr>
              <a:t>SCAM SHIELD     ·     IQOO HACKATHON 2026     ·     GITHUB.COM/KARTHIKEYAPODICHETI/HACKATHON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